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rundapandya-dev/AI-Powered-Cotton-Groundnut-Market-Linkage-Platfor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D2D52"/>
          </a:solidFill>
          <a:ln w="12700">
            <a:solidFill>
              <a:srgbClr val="0D2D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IBM University Engagement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EC8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Submission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5E5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"Exploring Farmer-First AI for Cotton &amp; Groundnut Markets"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661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AgriConnect Gujarat — AI-Powered Cotton &amp; Groundnut Market Linkage Platform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8795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Farmer-Facing Web App for Mandi Prices, Price Forecasting, Buyer Matching &amp; Income Tracking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Details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1521440" cy="310896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881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0881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362456"/>
            <a:ext cx="11521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08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4081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 — AI-Powered Cotton &amp; Groundnut Market Linkage Platform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746504"/>
            <a:ext cx="11521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792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79222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 / Market Intelligence / Financial Empowerment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11521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176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 Covered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21762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&amp; Groundnut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514600"/>
            <a:ext cx="11521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5603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across Gujarat (Rajkot, Junagadh, Ahmedabad, Bhavnagar, Amreli, Gondal)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898648"/>
            <a:ext cx="11521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2944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(HTML, CSS, JavaScript) — mobile-first, no app install required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82696"/>
            <a:ext cx="11521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328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3328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 / data.gov.in (live mandi price feed)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666744"/>
            <a:ext cx="11521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712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3712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(client-side; no backend or database)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098280" y="4636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graphicFrame>
        <p:nvGraphicFramePr>
          <p:cNvPr id="45" name="Table 0">
            <a:extLst>
              <a:ext uri="{FF2B5EF4-FFF2-40B4-BE49-F238E27FC236}">
                <a16:creationId xmlns:a16="http://schemas.microsoft.com/office/drawing/2014/main" id="{8CD926A5-3E50-587B-D88C-19352C92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753208"/>
              </p:ext>
            </p:extLst>
          </p:nvPr>
        </p:nvGraphicFramePr>
        <p:xfrm>
          <a:off x="613064" y="4315968"/>
          <a:ext cx="10908376" cy="1870771"/>
        </p:xfrm>
        <a:graphic>
          <a:graphicData uri="http://schemas.openxmlformats.org/drawingml/2006/table">
            <a:tbl>
              <a:tblPr/>
              <a:tblGrid>
                <a:gridCol w="2887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6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Recent Passport Photo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Number (WhatsApp)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Pandya Vrunda P.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vrundapandya10@gmail.com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9016605254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7" name="Picture 46">
            <a:extLst>
              <a:ext uri="{FF2B5EF4-FFF2-40B4-BE49-F238E27FC236}">
                <a16:creationId xmlns:a16="http://schemas.microsoft.com/office/drawing/2014/main" id="{3B99D768-5F80-D4E9-70D4-CB44D2348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488" y="4817316"/>
            <a:ext cx="988120" cy="126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&amp; Groundnut farmers in Gujarat lack market transparency and fair price access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4173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Farmers sell cotton &amp; groundnut without knowing live mandi prices or weekly trends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577840" cy="5760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44752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Farmers sell cotton &amp; groundnut without knowing live mandi prices or weekly trends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2112264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Middlemen buy at depressed prices — farmers lose 10–30% of their potential income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12264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39696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Middlemen buy at depressed prices — farmers lose 10–30% of their potential income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280720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No easy tool exists to compare mandi prices across 6 Gujarat mandis in one place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07208"/>
            <a:ext cx="5577840" cy="5760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34640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No easy tool exists to compare mandi prices across 6 Gujarat mandis in one place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350215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Price swings are unpredictable — farmers cannot decide when to sell vs store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502152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29584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Price swings are unpredictable — farmers cannot decide when to sell vs store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419709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No simple way to estimate crop quality grade and its impact on price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197096"/>
            <a:ext cx="5577840" cy="5760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224528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No simple way to estimate crop quality grade and its impact on price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48920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No dashboard to track income vs mandi averages over the season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892040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919472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No dashboard to track income vs mandi averages over the season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10789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1417320"/>
            <a:ext cx="5760720" cy="566928"/>
          </a:xfrm>
          <a:prstGeom prst="rect">
            <a:avLst/>
          </a:prstGeom>
          <a:solidFill>
            <a:srgbClr val="E8F5E9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144475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Show live mandi prices for Cotton &amp; Groundnut across 6 Gujarat mandis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2011680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03911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Provide a 7-day price forecast using linear regression on historical 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5760720" cy="566928"/>
          </a:xfrm>
          <a:prstGeom prst="rect">
            <a:avLst/>
          </a:prstGeom>
          <a:solidFill>
            <a:srgbClr val="E8F5E9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263347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Help farmers find and compare direct buyers vs mandi rates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200400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322783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Give AI-based Sell or Store recommendations based on price trends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3794760"/>
            <a:ext cx="5760720" cy="566928"/>
          </a:xfrm>
          <a:prstGeom prst="rect">
            <a:avLst/>
          </a:prstGeom>
          <a:solidFill>
            <a:srgbClr val="E8F5E9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82219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Simulate AI quality grading (Grade A/B/C) with estimated price impact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4389120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441655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Track income vs mandi averages in a personal dashboard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4983480"/>
            <a:ext cx="5760720" cy="566928"/>
          </a:xfrm>
          <a:prstGeom prst="rect">
            <a:avLst/>
          </a:prstGeom>
          <a:solidFill>
            <a:srgbClr val="E8F5E9"/>
          </a:solidFill>
          <a:ln w="6350">
            <a:solidFill>
              <a:srgbClr val="BBDD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63640" y="5010912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Support both English and Gujarati language for all farmers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20040" y="640080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  Cotton and groundnut farmers across Gujarat — especially in Rajkot, Junagadh, Ahmedabad, Bhavnagar, Amreli, and Gondal mandis — who sell through APMC or want direct buyer access.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Gujarat: a farmer-first web app for market intelligence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1152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 is a single-page web application built for cotton and groundnut farmers in Gujarat. It runs entirely in the browser — no installation, no login, no backend server. It pulls live mandi price data from Agmarknet / data.gov.in, runs a 7-day price forecast using client-side linear regression, and helps farmers make better decisions about when to sell, who to sell to, and how much their crop is worth.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Mandi Price Forecast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Cotton &amp; Groundnut prices from Agmarknet across Rajkot, Junagadh, Ahmedabad, Bhavnagar, Amreli &amp; Gondal. Includes 7-day AI forecast via linear regression. Price history chart powered by Chart.js.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15768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07208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Buyer Matching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807208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enter crop, location, quantity and grade to find and compare illustrative direct buyer offers vs live mandi rates. Shows estimated savings vs middlemen (−10% estimate).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11496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11496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202936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Sell or Store Advisor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202936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 (Sell Now / Wait / Store) based on live price trend + 7-day forecast slope. Shows break-even storage period, estimated extra income if waiting, and storage cost vs gain.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507224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07224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598664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Quality Grading (AI Simulated)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598664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uploads/takes a crop photo. The app simulates AI quality analysis to assign Grade A, B, or C with a confidence score. Translates grade to estimated price per quintal.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902952" y="1920240"/>
            <a:ext cx="2286000" cy="3566160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02952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994392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Income Dashboard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994392" y="2999232"/>
            <a:ext cx="2103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sale log saved in localStorage. Tracks total income, quantity sold, average price/qtl, and savings vs mandi average. Bar + line combo chart via Chart.js.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20040" y="562356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The app works in English and Gujarati. All data is stored locally in the browser (localStorage). No backend, database, or authentication is used.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Used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669280" cy="16916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" y="11155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14447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web app with responsive mobile-first layout. CSS custom properties for theming. Sticky header, bottom navigation for mobile, side navigation for desktop.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669280" cy="16916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45936" y="11155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(Vanilla)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45936" y="14447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logic in-browser — no frameworks, no npm, no build step. Handles data fetching, forecast calculation, chart rendering, localStorage, and language toggle.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5669280" cy="16916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" y="2944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4.4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" y="32735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the mandi price history chart (line), AI forecast overlay (dotted), and the income bar + line combo chart. Loaded from CDN.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5669280" cy="16916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5936" y="2944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 / data.gov.in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32735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 feed for Cotton and Groundnut across Gujarat mandis. The app fetches this API; on failure it falls back to 4-hour cached data stored in localStorage.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663440"/>
            <a:ext cx="5669280" cy="16916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" y="47731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" y="51023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mandi price cache (4-hour TTL), farmer's personal sale records for the income dashboard, and any user preferences. No backend database.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4663440"/>
            <a:ext cx="5669280" cy="16916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5936" y="47731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(client-side)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51023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price forecast computed in JavaScript on historical price arrays. Slope and intercept calculated from recent data points. Labeled clearly as AI Forecast — not official mandi data.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647395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AgriConnect Gujarat is a fully working frontend prototype. All features are functional in the browser. Live Agmarknet API is integrated; on API failure the app uses cached prices.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Components Used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frontend modules and data flow in AgriConnect Gujarat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657600" cy="21488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18872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1887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 API Connector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48056" y="155448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live Cotton &amp; Groundnut mandi prices from data.gov.in for 6 Gujarat mandis. Falls back to localStorage cache (4-hour TTL) on network failure.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78808" y="1078992"/>
            <a:ext cx="3657600" cy="21488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118872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88536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11887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Forecast Engine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06824" y="155448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linear regression on recent price array. Calculates slope + intercept, projects 7-day forward price, and labels it clearly as AI Forecast.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37576" y="1078992"/>
            <a:ext cx="3657600" cy="214884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118872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47304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494776" y="118872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Matching Module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165592" y="155448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crop, location, quantity, grade as inputs. Generates illustrative buyer offers with price comparison vs live mandi. Shows mandi price, middleman-adjusted price, and best buyer offer.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410712"/>
            <a:ext cx="3657600" cy="21488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52044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5204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Advisor Logic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" y="388620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sell/store/wait recommendation using live price + forecast slope. Calculates break-even storage period and estimated extra income. Labeled as AI advice.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78808" y="3410712"/>
            <a:ext cx="3657600" cy="21488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88536" y="352044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88536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35204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Grader (AI Simulated)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306824" y="388620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photo upload or camera. Simulates AI grading with a random-seeded confidence score. Assigns Grade A/B/C with tips and estimated price per quintal at that grade.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37576" y="3410712"/>
            <a:ext cx="3657600" cy="214884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47304" y="352044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47304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494776" y="35204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Dashboard + Chart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165592" y="3886200"/>
            <a:ext cx="3401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localStorage-backed sale log. Calculates total income, quantity, average price, and savings vs mandi average. Renders bar + line combo chart via Chart.js.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Project — Home Screen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 of the AgriConnect Gujarat dashboard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74552" cy="5120640"/>
          </a:xfrm>
          <a:prstGeom prst="rect">
            <a:avLst/>
          </a:prstGeom>
          <a:solidFill>
            <a:srgbClr val="F0F4F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11274552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24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 AgriConnect Gujarat   |   AI-Powered Market Linkage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789920" y="11247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ગુ / 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11274552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727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 🌾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20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mandi prices, AI forecasts, and direct buyer connections for cotton &amp; groundnut farmers across Gujarat.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395728"/>
            <a:ext cx="1664208" cy="201168"/>
          </a:xfrm>
          <a:prstGeom prst="roundRect">
            <a:avLst>
              <a:gd name="adj" fmla="val 45455"/>
            </a:avLst>
          </a:prstGeom>
          <a:solidFill>
            <a:srgbClr val="1B5E20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3957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Cotton &amp; Groundnut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95728" y="2395728"/>
            <a:ext cx="1664208" cy="201168"/>
          </a:xfrm>
          <a:prstGeom prst="roundRect">
            <a:avLst>
              <a:gd name="adj" fmla="val 45455"/>
            </a:avLst>
          </a:prstGeom>
          <a:solidFill>
            <a:srgbClr val="1B5E20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95728" y="23957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6 Gujarat Mandis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51376" y="2395728"/>
            <a:ext cx="1664208" cy="201168"/>
          </a:xfrm>
          <a:prstGeom prst="roundRect">
            <a:avLst>
              <a:gd name="adj" fmla="val 45455"/>
            </a:avLst>
          </a:prstGeom>
          <a:solidFill>
            <a:srgbClr val="1B5E20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51376" y="23957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Forecast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07024" y="2395728"/>
            <a:ext cx="1664208" cy="201168"/>
          </a:xfrm>
          <a:prstGeom prst="roundRect">
            <a:avLst>
              <a:gd name="adj" fmla="val 45455"/>
            </a:avLst>
          </a:prstGeom>
          <a:solidFill>
            <a:srgbClr val="1B5E20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07024" y="23957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Agmarknet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269748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63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(Rajkot) ₹/qtl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73552" y="2697480"/>
            <a:ext cx="269748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73552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5,480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063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Groundnut (Junagadh) ₹/qtl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89904" y="2697480"/>
            <a:ext cx="26974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89904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089904" y="3063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Mandis Tracked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906256" y="2697480"/>
            <a:ext cx="26974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06256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06256" y="3063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Updated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44728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557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Forecasting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3776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prices + 7-day AI forecast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215384" y="344728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06824" y="3557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718304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Buyers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718304" y="3776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mandi vs direct buyer offers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973568" y="344728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65008" y="3557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476488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or Store?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476488" y="3776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timing advisor based on price trend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422452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960120" y="4297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Grading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960120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photo — AI grades A/B/C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215384" y="422452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06824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718304" y="4297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Dashboard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4718304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sales vs mandi average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973568" y="4224528"/>
            <a:ext cx="361188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065008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8476488" y="4297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Kisan Helpline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8476488" y="4553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1800-180-1551 (Free) 6am–10pm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320040" y="6291072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representation of the working AgriConnect Gujarat home screen — live Cotton &amp; Groundnut prices, quick navigation to all 5 modules, and bilingual support.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Project — Mandi Price Forecast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prices from Agmarknet + 7-day AI forecast via linear regression (Chart.js)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749808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15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Mandi Price Forecast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0" y="1133856"/>
            <a:ext cx="548640" cy="201168"/>
          </a:xfrm>
          <a:prstGeom prst="roundRect">
            <a:avLst>
              <a:gd name="adj" fmla="val 45455"/>
            </a:avLst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11338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4813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Crop: Cotton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14813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Mandi: Rajkot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2148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4813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14 days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4507992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4165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₹5,800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77240" y="3922776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831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₹6,000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77240" y="3337560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246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₹6,200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777240" y="2752344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2660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₹6,400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777240" y="2167128"/>
            <a:ext cx="68122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075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₹6,600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77240" y="4215384"/>
            <a:ext cx="396050" cy="5852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Jun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1200722" y="3776472"/>
            <a:ext cx="396050" cy="10241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09281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Jun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1624203" y="3571646"/>
            <a:ext cx="396050" cy="122895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32763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Jun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2047685" y="3688690"/>
            <a:ext cx="396050" cy="111191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56244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Jun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2471166" y="3337560"/>
            <a:ext cx="39605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79726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Jun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2894648" y="3249778"/>
            <a:ext cx="396050" cy="155082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03208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Jun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3318129" y="3103474"/>
            <a:ext cx="396050" cy="169712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26689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Jun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3741611" y="3015691"/>
            <a:ext cx="396050" cy="1784909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50171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+1d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4165092" y="2898648"/>
            <a:ext cx="396050" cy="19019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73652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+2d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4588574" y="2752344"/>
            <a:ext cx="396050" cy="204825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97134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+3d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5012055" y="2635301"/>
            <a:ext cx="396050" cy="2165299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20615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+4d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5435537" y="2488997"/>
            <a:ext cx="396050" cy="2311603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44097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+5d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5859018" y="2371954"/>
            <a:ext cx="396050" cy="242864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67578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+6d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6282500" y="2240280"/>
            <a:ext cx="396050" cy="2560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91060" y="4828032"/>
            <a:ext cx="5789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+7d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548640" y="4956048"/>
            <a:ext cx="1828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77240" y="49286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377440" y="4956048"/>
            <a:ext cx="182880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606040" y="49286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AI Forecast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20040" y="5175504"/>
            <a:ext cx="7498080" cy="457200"/>
          </a:xfrm>
          <a:prstGeom prst="rect">
            <a:avLst/>
          </a:prstGeom>
          <a:solidFill>
            <a:srgbClr val="FFF8E1"/>
          </a:solidFill>
          <a:ln w="7620">
            <a:solidFill>
              <a:srgbClr val="FFB3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7200" y="5212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Forecast  Cotton/Rajkot: Expected to rise ~₹345 (+5.5%) over 7 days based on 14-day linear trend. Forecast — not an official mandi price.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955280" y="1078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Mandi Prices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7955280" y="13716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Agmarknet / data.gov.in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955280" y="1627632"/>
            <a:ext cx="4206240" cy="493776"/>
          </a:xfrm>
          <a:prstGeom prst="rect">
            <a:avLst/>
          </a:prstGeom>
          <a:solidFill>
            <a:srgbClr val="1A4A7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973568" y="16733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8778240" y="1673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₹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9308592" y="16733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9747504" y="16733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10232136" y="167335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Yesterday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10945368" y="16733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 Forecast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955280" y="2167128"/>
            <a:ext cx="42062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973568" y="22128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8778240" y="22128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6,230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9308592" y="22128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6,100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9747504" y="2212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6,420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10232136" y="221284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+80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10945368" y="2212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₹6,575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955280" y="2706624"/>
            <a:ext cx="4206240" cy="49377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973568" y="27523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Junagadh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8778240" y="27523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6,150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9308592" y="27523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6,020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9747504" y="27523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6,350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10232136" y="275234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−30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10945368" y="27523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₹6,490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955280" y="3246120"/>
            <a:ext cx="42062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73568" y="32918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8778240" y="3291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6,380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9308592" y="32918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6,230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9747504" y="3291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6,550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10232136" y="3291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+120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10945368" y="3291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₹6,680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7955280" y="3785616"/>
            <a:ext cx="4206240" cy="49377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973568" y="38313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Bhavnagar</a:t>
            </a:r>
            <a:endParaRPr lang="en-US" sz="750" dirty="0"/>
          </a:p>
        </p:txBody>
      </p:sp>
      <p:sp>
        <p:nvSpPr>
          <p:cNvPr id="91" name="Text 89"/>
          <p:cNvSpPr txBox="1"/>
          <p:nvPr/>
        </p:nvSpPr>
        <p:spPr>
          <a:xfrm>
            <a:off x="8778240" y="3831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6,080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9308592" y="38313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5,960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9747504" y="38313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6,250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10232136" y="38313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+50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10945368" y="38313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₹6,400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7955280" y="4325112"/>
            <a:ext cx="42062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973568" y="43708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Amreli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8778240" y="43708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6,190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9308592" y="43708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6,060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9747504" y="43708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6,380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10232136" y="437083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−20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10945368" y="43708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₹6,520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7955280" y="4864608"/>
            <a:ext cx="4206240" cy="49377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7973568" y="49103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Gondal</a:t>
            </a:r>
            <a:endParaRPr lang="en-US" sz="750" dirty="0"/>
          </a:p>
        </p:txBody>
      </p:sp>
      <p:sp>
        <p:nvSpPr>
          <p:cNvPr id="105" name="Text 103"/>
          <p:cNvSpPr txBox="1"/>
          <p:nvPr/>
        </p:nvSpPr>
        <p:spPr>
          <a:xfrm>
            <a:off x="8778240" y="49103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6,120</a:t>
            </a:r>
            <a:endParaRPr lang="en-US" sz="750" dirty="0"/>
          </a:p>
        </p:txBody>
      </p:sp>
      <p:sp>
        <p:nvSpPr>
          <p:cNvPr id="106" name="Text 104"/>
          <p:cNvSpPr txBox="1"/>
          <p:nvPr/>
        </p:nvSpPr>
        <p:spPr>
          <a:xfrm>
            <a:off x="9308592" y="49103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5,990</a:t>
            </a:r>
            <a:endParaRPr lang="en-US" sz="750" dirty="0"/>
          </a:p>
        </p:txBody>
      </p:sp>
      <p:sp>
        <p:nvSpPr>
          <p:cNvPr id="107" name="Text 105"/>
          <p:cNvSpPr txBox="1"/>
          <p:nvPr/>
        </p:nvSpPr>
        <p:spPr>
          <a:xfrm>
            <a:off x="9747504" y="4910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6,300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10232136" y="491032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+90</a:t>
            </a:r>
            <a:endParaRPr lang="en-US" sz="750" dirty="0"/>
          </a:p>
        </p:txBody>
      </p:sp>
      <p:sp>
        <p:nvSpPr>
          <p:cNvPr id="109" name="Text 107"/>
          <p:cNvSpPr txBox="1"/>
          <p:nvPr/>
        </p:nvSpPr>
        <p:spPr>
          <a:xfrm>
            <a:off x="10945368" y="4910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₹6,450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</a:t>
            </a: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Project</a:t>
            </a: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Buyer Matching &amp; Storage Advisor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buyer comparison and AI sell/store/wait recommendation based on live price trend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48640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Find Direct Buyers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161288"/>
            <a:ext cx="1554480" cy="201168"/>
          </a:xfrm>
          <a:prstGeom prst="roundRect">
            <a:avLst>
              <a:gd name="adj" fmla="val 45455"/>
            </a:avLst>
          </a:prstGeom>
          <a:solidFill>
            <a:srgbClr val="FCE4EC"/>
          </a:solidFill>
          <a:ln w="6350">
            <a:solidFill>
              <a:srgbClr val="F48FB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1161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4904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Crop: Cotton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8379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Rajkot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854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Quantity: 50 qtl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5212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5328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Grade: B — Standard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521208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9260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Match Buyers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64992"/>
            <a:ext cx="521208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383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₹6,230/qtl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76472"/>
            <a:ext cx="52120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7947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Middleman (−10%)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3794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₹5,607/qtl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87952"/>
            <a:ext cx="521208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2062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Direct Buyer Offer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4206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₹6,450/qtl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5212080" cy="457200"/>
          </a:xfrm>
          <a:prstGeom prst="rect">
            <a:avLst/>
          </a:prstGeom>
          <a:solidFill>
            <a:srgbClr val="E8F5E9"/>
          </a:solidFill>
          <a:ln w="762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7000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Direct sale saves ≈ ₹11,150 on 50 qtl vs middlemen route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5212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239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Anand Ginning Mill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52395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₹6,450/qtl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669280"/>
            <a:ext cx="5212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696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 Traders Co-op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840480" y="56967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₹6,380/qtl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1078992"/>
            <a:ext cx="594360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8076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Storage &amp; Timing Advisor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515600" y="1161288"/>
            <a:ext cx="1234440" cy="201168"/>
          </a:xfrm>
          <a:prstGeom prst="roundRect">
            <a:avLst>
              <a:gd name="adj" fmla="val 45455"/>
            </a:avLst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0" y="1161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+ AI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80760" y="1463040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72200" y="1490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Crop: Cotton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80760" y="1810512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72200" y="18379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Mandi: Rajkot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2157984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2200" y="21854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Quantity: 100 qtl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2505456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25328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cost: ₹80/qtl/month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09560" y="2944368"/>
            <a:ext cx="1417320" cy="141732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909560" y="3108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7543800" y="4434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080760" y="47731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shows upward trend.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10–14 days for higher prices.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80760" y="2926080"/>
            <a:ext cx="5669280" cy="35661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72200" y="295351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Modal Price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9509760" y="295351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₹6,230/qtl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80760" y="3328416"/>
            <a:ext cx="566928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172200" y="335584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Forecast Direction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9509760" y="335584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Rising (+₹345 est.)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80760" y="3730752"/>
            <a:ext cx="5669280" cy="35661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172200" y="375818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Store Period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9509760" y="375818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days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80760" y="4133088"/>
            <a:ext cx="566928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172200" y="416052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Extra Income (if wait)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9509760" y="416052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₹34,500 on 100 qtl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Project — Quality Grading &amp; Income Dashboard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AI-simulated crop quality assessment and personal sale income tracker (localStorage-backed)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48640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Quality Grading (AI Simulated)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9047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Crop: Cotton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5623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Photo/Upload Area: [📷 Upload or Take Photo]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22199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Parameters: Fibre length, moisture, contamination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521208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7860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Analyse Quality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21208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8568" y="3127248"/>
            <a:ext cx="1609344" cy="160934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58568" y="333756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828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102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87%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5358384"/>
            <a:ext cx="457200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552297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fibre length &amp; uniformity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66013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Low moisture content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79729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Minimal contamination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93445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Eligible for export grades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6108192"/>
            <a:ext cx="521208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61264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Grade A, Cotton estimated at ~₹6,230/qtl (Rajkot live price)  |  AI Estimate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943600" y="1078992"/>
            <a:ext cx="5943600" cy="5074920"/>
          </a:xfrm>
          <a:prstGeom prst="rect">
            <a:avLst/>
          </a:prstGeom>
          <a:solidFill>
            <a:srgbClr val="F8FAF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8076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My Income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508760"/>
            <a:ext cx="278892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80760" y="15544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₹3,42,000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19110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Income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961120" y="1508760"/>
            <a:ext cx="2788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0" y="15544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qtl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19110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Sold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80760" y="2221992"/>
            <a:ext cx="2788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80760" y="22677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₹6,218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26243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Price/qtl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961120" y="2221992"/>
            <a:ext cx="278892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0" y="22677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₹18,700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26243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vs Middlemen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080760" y="2971800"/>
            <a:ext cx="5669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3017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Price ₹/qtl  vs  Mandi Avg ₹/qtl (Live)  — Chart.js Bar+Line Combo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172200" y="3988191"/>
            <a:ext cx="411480" cy="81240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9400" y="4000500"/>
            <a:ext cx="91440" cy="9144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26480" y="484632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Jun C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7525512" y="4568483"/>
            <a:ext cx="411480" cy="23211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82712" y="4580792"/>
            <a:ext cx="91440" cy="9144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79792" y="484632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Jun G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8878824" y="3698045"/>
            <a:ext cx="411480" cy="1102555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36024" y="3826412"/>
            <a:ext cx="91440" cy="9144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833104" y="484632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Jun C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0232136" y="3547169"/>
            <a:ext cx="411480" cy="1253431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89336" y="3791595"/>
            <a:ext cx="91440" cy="9144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186416" y="484632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Jun C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6172200" y="4937760"/>
            <a:ext cx="164592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73368" y="49103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Price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635240" y="4956048"/>
            <a:ext cx="109728" cy="109728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90688" y="49103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 Avg (Live)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080760" y="5166360"/>
            <a:ext cx="5669280" cy="24688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099048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7031736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7964424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8897112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₹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9829800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 ₹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10762488" y="5184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Avg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080760" y="5413248"/>
            <a:ext cx="5669280" cy="31089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099048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Jun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7031736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7964424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8897112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6,100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9829800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6,050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10762488" y="5431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080760" y="5760720"/>
            <a:ext cx="5669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099048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Jun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7031736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Grndnt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7964424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8897112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5,600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9829800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5,550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10762488" y="5779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080760" y="6108192"/>
            <a:ext cx="5669280" cy="310896"/>
          </a:xfrm>
          <a:prstGeom prst="rect">
            <a:avLst/>
          </a:prstGeom>
          <a:solidFill>
            <a:srgbClr val="F5F5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099048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Jun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7031736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7964424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8897112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6,480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9829800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6,230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10762488" y="6126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Frontend AI in the Solution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"AI" means in AgriConnect Gujarat — client-side, transparent, and labeled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5156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 Gujarat does not use a cloud AI API or a trained ML model. Instead, it implements lightweight, transparent AI algorithms directly in JavaScript in the browser. Each AI feature is clearly labeled so farmers know what is a live price and what is an estimate.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0" y="1691640"/>
            <a:ext cx="1581912" cy="1581912"/>
          </a:xfrm>
          <a:prstGeom prst="diamond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0" y="1901952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AgriConnect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Gujarat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5303520" cy="150876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Forecast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" y="206654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7-day price forecast is computed in JavaScript by fitting a linear regression line to the last 14 days of mandi price data. Slope and intercept give the trend direction and magnitude.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337560"/>
            <a:ext cx="5303520" cy="150876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or Store Logic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" y="375818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advisor compares the live price against the 7-day forecast slope. If the slope indicates rising prices and extra gain exceeds storage cost, it recommends "Wait" or "Store"; otherwise "Sell Now".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29400" y="1645920"/>
            <a:ext cx="5303520" cy="1508760"/>
          </a:xfrm>
          <a:prstGeom prst="rect">
            <a:avLst/>
          </a:prstGeom>
          <a:solidFill>
            <a:srgbClr val="E8F5E9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57416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Grade Simulation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57416" y="206654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quality grader uses a seeded pseudo-random function combined with user-selected parameters (moisture, fibre, contamination) to assign Grade A/B/C with a confidence score. Results include grade-adjusted price estimates.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3337560"/>
            <a:ext cx="5303520" cy="1508760"/>
          </a:xfrm>
          <a:prstGeom prst="rect">
            <a:avLst/>
          </a:prstGeom>
          <a:solidFill>
            <a:srgbClr val="E8F5E9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57416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Offer Estimation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57416" y="375818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buyer offers are computed as illustrative percentage premiums over the live mandi price (e.g. +3.5% for Grade A direct buyers). Clearly labeled as ILLUSTRATIVE — not real buyer data.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507492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Every AI-generated output is labeled LIVE, AI Forecast, AI Estimate, or ILLUSTRATIVE — farmers always know the source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548640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No backend, no cloud API calls for AI — all logic runs client-side in the browser for privacy and offline resilience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Forecast is clearly distinguished from official Agmarknet mandi prices in all UI labels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localStorage caches price data for 4 hours — ensuring the app works even when Agmarknet API is temporarily unavailable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Novelty and Uniqueness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AgriConnect Gujarat different from a standard price-check app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657600" cy="196596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" y="1143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Live Price + Forecast in One View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48056" y="155448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Most price apps show today's price only. AgriConnect shows 14-day history, today's cross-mandi table, AND a 7-day linear regression forecast — all on one screen.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78808" y="1051560"/>
            <a:ext cx="3657600" cy="196596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6824" y="1143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Bilingual by Design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306824" y="155448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Full English and Gujarati toggle built into every label, heading, and button. Designed from the ground up for rural Gujarat farmers, not as an afterthought translation.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37576" y="1051560"/>
            <a:ext cx="3657600" cy="196596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5592" y="1143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No Login, No Backend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65592" y="155448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Runs entirely in the browser with no account, no server, and no data sent anywhere. Income records stay private in the farmer's own device (localStorage).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3657600" cy="196596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" y="329184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Mandi vs Buyer Comparison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" y="370332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The Buyer Matching module shows live mandi price, middleman-adjusted price, and direct buyer offers side-by-side — making the cost of using a middleman visible and concrete.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78808" y="3200400"/>
            <a:ext cx="3657600" cy="1965960"/>
          </a:xfrm>
          <a:prstGeom prst="rect">
            <a:avLst/>
          </a:prstGeom>
          <a:solidFill>
            <a:srgbClr val="D5E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06824" y="329184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Sell or Store Decision Tool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306824" y="370332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Combines live price trend and forecast to give a concrete Sell Now / Wait / Store recommendation with break-even period and estimated extra income — not just raw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37576" y="3200400"/>
            <a:ext cx="3657600" cy="1965960"/>
          </a:xfrm>
          <a:prstGeom prst="rect">
            <a:avLst/>
          </a:prstGeom>
          <a:solidFill>
            <a:srgbClr val="F5F5F5"/>
          </a:solidFill>
          <a:ln w="7620">
            <a:solidFill>
              <a:srgbClr val="AFC9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5592" y="329184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Personal Income Tracker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165592" y="3703320"/>
            <a:ext cx="3401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SF Pro Text" pitchFamily="50" charset="0"/>
                <a:cs typeface="Arial" pitchFamily="34" charset="-120"/>
              </a:rPr>
              <a:t>Farmers log each sale and the dashboard automatically compares their achieved price to the live mandi average, showing cumulative savings vs the middlemen route over the season.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Link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r>
              <a:rPr lang="en-US" sz="13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</a:t>
            </a:r>
            <a:endParaRPr lang="en-US" dirty="0"/>
          </a:p>
        </p:txBody>
      </p:sp>
      <p:sp>
        <p:nvSpPr>
          <p:cNvPr id="5" name="Text 3">
            <a:hlinkClick r:id="rId3"/>
          </p:cNvPr>
          <p:cNvSpPr txBox="1"/>
          <p:nvPr/>
        </p:nvSpPr>
        <p:spPr>
          <a:xfrm>
            <a:off x="26517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hlinkClick r:id="rId3"/>
              </a:rPr>
              <a:t>https://github.com/vrundapandya-dev/AI-Powered-Cotton-Groundnut-Market-Linkage-Platform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Live Agmarknet API Integration with Real 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29844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current CORS-proxy approach with a proper backend proxy server (Node.js/Python) to reliably stream live Agmarknet mandi prices across all Gujarat mandis in real time, eliminating the need for cached fallback data.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7568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Real Buyer CRM / Directory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35000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illustrative buyer offers with a real verified-buyer directory. Ginning mills, co-operatives, and exporters could list live bids. Farmers could submit their crop details and receive actual offers via WhatsApp or SMS.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12724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Voice Assistant in Gujarati &amp; Hindi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340156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voice-enabled interface so low-literacy farmers can speak their questions (e.g., "Rajkot ma kapas no bhav shu che?") and hear the answer. Web Speech API or a lightweight on-device model could power this.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417880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ML-Based Price Forecast (ARIMA / LSTM)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445312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current linear regression with a time-series ML model (ARIMA or LSTM) trained on 3–5 years of Agmarknet history, giving better seasonal pattern recognition and more accurate forecasts.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5230368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Real AI Quality Grading (Computer Vision)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550468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simulated quality grader with an actual image classification model (TensorFlow.js or a cloud CV API) trained on cotton and groundnut crop images to give real Grade A/B/C output from a photo.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Earned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5669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20040" y="1051560"/>
            <a:ext cx="56692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certificate here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051560"/>
            <a:ext cx="5669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217920" y="1051560"/>
            <a:ext cx="56692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Certificate here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1C2927-9504-028E-02E0-FE8594FAE588}"/>
              </a:ext>
            </a:extLst>
          </p:cNvPr>
          <p:cNvSpPr txBox="1"/>
          <p:nvPr/>
        </p:nvSpPr>
        <p:spPr>
          <a:xfrm>
            <a:off x="428263" y="1169042"/>
            <a:ext cx="5231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1A4A7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Credly</a:t>
            </a:r>
            <a:r>
              <a:rPr lang="en-US" b="1" dirty="0">
                <a:solidFill>
                  <a:srgbClr val="1A4A7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Certificate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4E5AB1-7782-05C7-7F0A-B01BF2201527}"/>
              </a:ext>
            </a:extLst>
          </p:cNvPr>
          <p:cNvSpPr txBox="1"/>
          <p:nvPr/>
        </p:nvSpPr>
        <p:spPr>
          <a:xfrm>
            <a:off x="6289683" y="1169042"/>
            <a:ext cx="5231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4A7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IBM </a:t>
            </a:r>
            <a:r>
              <a:rPr lang="en-US" b="1" dirty="0" err="1">
                <a:solidFill>
                  <a:srgbClr val="1A4A7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SkillsBuild</a:t>
            </a:r>
            <a:r>
              <a:rPr lang="en-US" b="1" dirty="0">
                <a:solidFill>
                  <a:srgbClr val="1A4A7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Certificate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6D7F12-C2CF-6FE3-9506-E8F791940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70" y="1711626"/>
            <a:ext cx="5552820" cy="41958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06BEE9-2205-29FF-F2FF-21B87FA7E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177" y="2153275"/>
            <a:ext cx="5592765" cy="34488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29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5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for your time and interest in AgriConnect Gujarat.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AI-Powered Cotton &amp; Groundnut Market Linkage for Gujarat Farmers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2851</Words>
  <Application>Microsoft Office PowerPoint</Application>
  <PresentationFormat>Widescreen</PresentationFormat>
  <Paragraphs>392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Vrunda Pandya</cp:lastModifiedBy>
  <cp:revision>8</cp:revision>
  <dcterms:created xsi:type="dcterms:W3CDTF">2026-09-03T09:30:55Z</dcterms:created>
  <dcterms:modified xsi:type="dcterms:W3CDTF">2026-09-04T08:11:19Z</dcterms:modified>
</cp:coreProperties>
</file>